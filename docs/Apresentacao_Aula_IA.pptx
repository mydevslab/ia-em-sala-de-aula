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ontserrat Bold" charset="1" panose="00000800000000000000"/>
      <p:regular r:id="rId22"/>
    </p:embeddedFont>
    <p:embeddedFont>
      <p:font typeface="DM Serif Display" charset="1" panose="00000000000000000000"/>
      <p:regular r:id="rId23"/>
    </p:embeddedFont>
    <p:embeddedFont>
      <p:font typeface="Montserrat" charset="1" panose="00000500000000000000"/>
      <p:regular r:id="rId24"/>
    </p:embeddedFont>
    <p:embeddedFont>
      <p:font typeface="IBM Plex Mono Bold" charset="1" panose="020B08090502030002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96250" y="0"/>
            <a:ext cx="10191750" cy="10287000"/>
          </a:xfrm>
          <a:custGeom>
            <a:avLst/>
            <a:gdLst/>
            <a:ahLst/>
            <a:cxnLst/>
            <a:rect r="r" b="b" t="t" l="l"/>
            <a:pathLst>
              <a:path h="10287000" w="10191750">
                <a:moveTo>
                  <a:pt x="0" y="0"/>
                </a:moveTo>
                <a:lnTo>
                  <a:pt x="10191750" y="0"/>
                </a:lnTo>
                <a:lnTo>
                  <a:pt x="10191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" r="0" b="-37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4712557" y="0"/>
            <a:ext cx="13767139" cy="10287000"/>
            <a:chOff x="0" y="0"/>
            <a:chExt cx="18356185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5618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356185">
                  <a:moveTo>
                    <a:pt x="0" y="0"/>
                  </a:moveTo>
                  <a:lnTo>
                    <a:pt x="18356185" y="0"/>
                  </a:lnTo>
                  <a:lnTo>
                    <a:pt x="1835618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231F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356185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59B3D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66800" y="1343025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2" b="true">
                <a:solidFill>
                  <a:srgbClr val="D59B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PLANO DE AULA  •  INICIANTES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2286000"/>
            <a:ext cx="10001250" cy="245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sz="6150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Fundamentos do Violão para Acompanhamento de Hinos Congregacionais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6438900"/>
            <a:ext cx="695325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C8D2CA"/>
                </a:solidFill>
                <a:latin typeface="Montserrat"/>
                <a:ea typeface="Montserrat"/>
                <a:cs typeface="Montserrat"/>
                <a:sym typeface="Montserrat"/>
              </a:rPr>
              <a:t>Formação musical a serviço do canto, da unidade e da adoração coletiva.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" y="8486775"/>
            <a:ext cx="5905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1650" spc="231" b="true">
                <a:solidFill>
                  <a:srgbClr val="FFFA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21 DE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O papel ministerial do violão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C9C2B4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66800" y="2314575"/>
            <a:ext cx="7239000" cy="11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4500">
                <a:solidFill>
                  <a:srgbClr val="20292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 violão não ocupa o centro.</a:t>
            </a:r>
          </a:p>
          <a:p>
            <a:pPr algn="l">
              <a:lnSpc>
                <a:spcPts val="4680"/>
              </a:lnSpc>
            </a:pPr>
            <a:r>
              <a:rPr lang="en-US" sz="4500">
                <a:solidFill>
                  <a:srgbClr val="20292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Ele sustenta o canto.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4724400"/>
            <a:ext cx="6858000" cy="151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68756D"/>
                </a:solidFill>
                <a:latin typeface="Montserrat"/>
                <a:ea typeface="Montserrat"/>
                <a:cs typeface="Montserrat"/>
                <a:sym typeface="Montserrat"/>
              </a:rPr>
              <a:t>Como instrumento de apoio, oferece referência harmônica e rítmica, facilita a participação de quem canta e ajuda a congregação a respirar como uma só voz.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7486650"/>
            <a:ext cx="7239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241" b="true">
                <a:solidFill>
                  <a:srgbClr val="B857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APOIO  •  PARTICIPAÇÃO  •  UNIDADE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620250" y="1809750"/>
            <a:ext cx="7600950" cy="6858000"/>
          </a:xfrm>
          <a:custGeom>
            <a:avLst/>
            <a:gdLst/>
            <a:ahLst/>
            <a:cxnLst/>
            <a:rect r="r" b="b" t="t" l="l"/>
            <a:pathLst>
              <a:path h="6858000" w="7600950">
                <a:moveTo>
                  <a:pt x="0" y="0"/>
                </a:moveTo>
                <a:lnTo>
                  <a:pt x="7600950" y="0"/>
                </a:lnTo>
                <a:lnTo>
                  <a:pt x="76009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" t="0" r="-55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6875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Objetivos de aprendizagem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C9C2B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66800" y="2047875"/>
            <a:ext cx="4953000" cy="2619375"/>
            <a:chOff x="0" y="0"/>
            <a:chExt cx="6604000" cy="3492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604000" cy="3492500"/>
              <a:chOff x="0" y="0"/>
              <a:chExt cx="6604000" cy="3492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604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604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31800" y="1079500"/>
              <a:ext cx="5740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Ministério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31800" y="1774825"/>
              <a:ext cx="57404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Compreender o papel do violão no canto coletivo.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57950" y="2047875"/>
            <a:ext cx="4953000" cy="2619375"/>
            <a:chOff x="0" y="0"/>
            <a:chExt cx="6604000" cy="34925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604000" cy="3492500"/>
              <a:chOff x="0" y="0"/>
              <a:chExt cx="6604000" cy="3492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604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604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31800" y="1079500"/>
              <a:ext cx="5740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Instrumento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31800" y="1774825"/>
              <a:ext cx="57404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Identificar corpo, braço, cabeça, trastes e cordas.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49100" y="2047875"/>
            <a:ext cx="4953000" cy="2619375"/>
            <a:chOff x="0" y="0"/>
            <a:chExt cx="6604000" cy="34925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604000" cy="3492500"/>
              <a:chOff x="0" y="0"/>
              <a:chExt cx="6604000" cy="34925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04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604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31800" y="1079500"/>
              <a:ext cx="5740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Harmonia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1774825"/>
              <a:ext cx="57404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Executar G, C, D e Em com posição consciente.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6800" y="5191125"/>
            <a:ext cx="4953000" cy="2619375"/>
            <a:chOff x="0" y="0"/>
            <a:chExt cx="6604000" cy="34925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604000" cy="3492500"/>
              <a:chOff x="0" y="0"/>
              <a:chExt cx="6604000" cy="3492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604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604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31800" y="1079500"/>
              <a:ext cx="5740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Pulso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31800" y="1774825"/>
              <a:ext cx="57404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Manter uma pulsação básica, estável e musical.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57950" y="5191125"/>
            <a:ext cx="4953000" cy="2619375"/>
            <a:chOff x="0" y="0"/>
            <a:chExt cx="6604000" cy="34925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6604000" cy="3492500"/>
              <a:chOff x="0" y="0"/>
              <a:chExt cx="6604000" cy="34925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6040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66040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431800" y="1079500"/>
              <a:ext cx="5740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Aplicação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31800" y="1774825"/>
              <a:ext cx="57404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Acompanhar trechos simples de hinos tradicionais.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6875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Partes essenciais do violão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52635A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43000" y="1762125"/>
            <a:ext cx="16002000" cy="6572250"/>
          </a:xfrm>
          <a:custGeom>
            <a:avLst/>
            <a:gdLst/>
            <a:ahLst/>
            <a:cxnLst/>
            <a:rect r="r" b="b" t="t" l="l"/>
            <a:pathLst>
              <a:path h="6572250" w="16002000">
                <a:moveTo>
                  <a:pt x="0" y="0"/>
                </a:moveTo>
                <a:lnTo>
                  <a:pt x="16002000" y="0"/>
                </a:lnTo>
                <a:lnTo>
                  <a:pt x="1600200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" t="0" r="-87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7" id="7"/>
          <p:cNvSpPr/>
          <p:nvPr/>
        </p:nvSpPr>
        <p:spPr>
          <a:xfrm flipV="true">
            <a:off x="2476500" y="5905500"/>
            <a:ext cx="0" cy="952500"/>
          </a:xfrm>
          <a:prstGeom prst="line">
            <a:avLst/>
          </a:prstGeom>
          <a:ln cap="flat" w="19050">
            <a:solidFill>
              <a:srgbClr val="D59B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809750" y="74866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231">
                <a:solidFill>
                  <a:srgbClr val="FFFA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CORPO</a:t>
            </a:r>
          </a:p>
        </p:txBody>
      </p:sp>
      <p:sp>
        <p:nvSpPr>
          <p:cNvPr name="AutoShape 9" id="9"/>
          <p:cNvSpPr/>
          <p:nvPr/>
        </p:nvSpPr>
        <p:spPr>
          <a:xfrm>
            <a:off x="6667500" y="4495800"/>
            <a:ext cx="0" cy="838200"/>
          </a:xfrm>
          <a:prstGeom prst="line">
            <a:avLst/>
          </a:prstGeom>
          <a:ln cap="flat" w="19050">
            <a:solidFill>
              <a:srgbClr val="D59B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000750" y="40576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231">
                <a:solidFill>
                  <a:srgbClr val="FFFA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CORDAS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287000" y="5810250"/>
            <a:ext cx="0" cy="95250"/>
          </a:xfrm>
          <a:prstGeom prst="line">
            <a:avLst/>
          </a:prstGeom>
          <a:ln cap="flat" w="19050">
            <a:solidFill>
              <a:srgbClr val="D59B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620250" y="643890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231">
                <a:solidFill>
                  <a:srgbClr val="FFFA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BRAÇO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2001500" y="4210050"/>
            <a:ext cx="0" cy="1123950"/>
          </a:xfrm>
          <a:prstGeom prst="line">
            <a:avLst/>
          </a:prstGeom>
          <a:ln cap="flat" w="19050">
            <a:solidFill>
              <a:srgbClr val="D59B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1334750" y="377190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231">
                <a:solidFill>
                  <a:srgbClr val="FFFA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TRASTES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4573250" y="5905500"/>
            <a:ext cx="0" cy="0"/>
          </a:xfrm>
          <a:prstGeom prst="line">
            <a:avLst/>
          </a:prstGeom>
          <a:ln cap="flat" w="19050">
            <a:solidFill>
              <a:srgbClr val="D59B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3906500" y="65341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231">
                <a:solidFill>
                  <a:srgbClr val="FFFA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CABEÇA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5621000" y="3543300"/>
            <a:ext cx="0" cy="1790700"/>
          </a:xfrm>
          <a:prstGeom prst="line">
            <a:avLst/>
          </a:prstGeom>
          <a:ln cap="flat" w="19050">
            <a:solidFill>
              <a:srgbClr val="D59B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4954250" y="3105150"/>
            <a:ext cx="171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231">
                <a:solidFill>
                  <a:srgbClr val="FFFA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TARRAXAS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AEBB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Acorde G  •  Sol maior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C9C2B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9250" y="2381250"/>
            <a:ext cx="6191250" cy="5905500"/>
            <a:chOff x="0" y="0"/>
            <a:chExt cx="8255000" cy="7874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255000" cy="7874000"/>
              <a:chOff x="0" y="0"/>
              <a:chExt cx="8255000" cy="787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255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255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>
              <a:off x="1270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2413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3556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699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5842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6985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1270000" y="889000"/>
              <a:ext cx="5715000" cy="0"/>
            </a:xfrm>
            <a:prstGeom prst="line">
              <a:avLst/>
            </a:prstGeom>
            <a:ln cap="flat" w="1016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1270000" y="20828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1270000" y="32766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270000" y="44704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1270000" y="56642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1270000" y="68580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2" id="22"/>
            <p:cNvGrpSpPr/>
            <p:nvPr/>
          </p:nvGrpSpPr>
          <p:grpSpPr>
            <a:xfrm rot="0">
              <a:off x="5537200" y="2387600"/>
              <a:ext cx="609600" cy="609600"/>
              <a:chOff x="0" y="0"/>
              <a:chExt cx="609600" cy="609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1723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2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108200" y="3581400"/>
              <a:ext cx="609600" cy="609600"/>
              <a:chOff x="0" y="0"/>
              <a:chExt cx="609600" cy="6096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1723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3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65200" y="4775200"/>
              <a:ext cx="609600" cy="609600"/>
              <a:chOff x="0" y="0"/>
              <a:chExt cx="609600" cy="6096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1723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4</a:t>
                </a:r>
              </a:p>
            </p:txBody>
          </p:sp>
        </p:grpSp>
      </p:grpSp>
      <p:sp>
        <p:nvSpPr>
          <p:cNvPr name="TextBox 31" id="31"/>
          <p:cNvSpPr txBox="true"/>
          <p:nvPr/>
        </p:nvSpPr>
        <p:spPr>
          <a:xfrm rot="0">
            <a:off x="9334500" y="2638425"/>
            <a:ext cx="6667500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40"/>
              </a:lnSpc>
            </a:pPr>
            <a:r>
              <a:rPr lang="en-US" sz="17250">
                <a:solidFill>
                  <a:srgbClr val="20292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29750" y="4924425"/>
            <a:ext cx="64770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68756D"/>
                </a:solidFill>
                <a:latin typeface="Montserrat"/>
                <a:ea typeface="Montserrat"/>
                <a:cs typeface="Montserrat"/>
                <a:sym typeface="Montserrat"/>
              </a:rPr>
              <a:t>Curve os dedos e pressione perto dos trastes. Toque as seis cordas, procurando um som aberto, firme e luminoso.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29750" y="7296150"/>
            <a:ext cx="6477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262" b="true">
                <a:solidFill>
                  <a:srgbClr val="B857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APLICAÇÃO  •  Ó Senhor, meu Deus…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6875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Acorde C  •  Dó maior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C9C2B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9250" y="2381250"/>
            <a:ext cx="6191250" cy="5905500"/>
            <a:chOff x="0" y="0"/>
            <a:chExt cx="8255000" cy="7874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255000" cy="7874000"/>
              <a:chOff x="0" y="0"/>
              <a:chExt cx="8255000" cy="787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255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255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>
              <a:off x="1270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2413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3556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699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5842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6985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1270000" y="889000"/>
              <a:ext cx="5715000" cy="0"/>
            </a:xfrm>
            <a:prstGeom prst="line">
              <a:avLst/>
            </a:prstGeom>
            <a:ln cap="flat" w="1016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1270000" y="20828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1270000" y="32766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270000" y="44704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1270000" y="56642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1270000" y="68580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2" id="22"/>
            <p:cNvGrpSpPr/>
            <p:nvPr/>
          </p:nvGrpSpPr>
          <p:grpSpPr>
            <a:xfrm rot="0">
              <a:off x="5537200" y="2387600"/>
              <a:ext cx="609600" cy="609600"/>
              <a:chOff x="0" y="0"/>
              <a:chExt cx="609600" cy="609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1723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1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238500" y="3581400"/>
              <a:ext cx="609600" cy="609600"/>
              <a:chOff x="0" y="0"/>
              <a:chExt cx="609600" cy="6096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1723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2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108200" y="4775200"/>
              <a:ext cx="609600" cy="609600"/>
              <a:chOff x="0" y="0"/>
              <a:chExt cx="609600" cy="6096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1723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3</a:t>
                </a:r>
              </a:p>
            </p:txBody>
          </p:sp>
        </p:grpSp>
      </p:grpSp>
      <p:sp>
        <p:nvSpPr>
          <p:cNvPr name="TextBox 31" id="31"/>
          <p:cNvSpPr txBox="true"/>
          <p:nvPr/>
        </p:nvSpPr>
        <p:spPr>
          <a:xfrm rot="0">
            <a:off x="9334500" y="2638425"/>
            <a:ext cx="6667500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40"/>
              </a:lnSpc>
            </a:pPr>
            <a:r>
              <a:rPr lang="en-US" sz="17250">
                <a:solidFill>
                  <a:srgbClr val="20292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29750" y="4924425"/>
            <a:ext cx="6477000" cy="162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68756D"/>
                </a:solidFill>
                <a:latin typeface="Montserrat"/>
                <a:ea typeface="Montserrat"/>
                <a:cs typeface="Montserrat"/>
                <a:sym typeface="Montserrat"/>
              </a:rPr>
              <a:t>Mantenha a ponta dos dedos perpendicular ao braço. Evite encostar nas cordas vizinhas e toque da quinta corda para baixo.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29750" y="7296150"/>
            <a:ext cx="6477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262" b="true">
                <a:solidFill>
                  <a:srgbClr val="B857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APLICAÇÃO  •  Ao ouvir falar de Deus…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6875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Acorde D  •  Ré maior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C9C2B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9250" y="2381250"/>
            <a:ext cx="6191250" cy="5905500"/>
            <a:chOff x="0" y="0"/>
            <a:chExt cx="8255000" cy="7874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255000" cy="7874000"/>
              <a:chOff x="0" y="0"/>
              <a:chExt cx="8255000" cy="787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255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255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>
              <a:off x="1270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2413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3556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699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5842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6985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1270000" y="889000"/>
              <a:ext cx="5715000" cy="0"/>
            </a:xfrm>
            <a:prstGeom prst="line">
              <a:avLst/>
            </a:prstGeom>
            <a:ln cap="flat" w="1016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1270000" y="20828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1270000" y="32766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270000" y="44704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1270000" y="56642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1270000" y="68580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2" id="22"/>
            <p:cNvGrpSpPr/>
            <p:nvPr/>
          </p:nvGrpSpPr>
          <p:grpSpPr>
            <a:xfrm rot="0">
              <a:off x="4394200" y="2387600"/>
              <a:ext cx="609600" cy="609600"/>
              <a:chOff x="0" y="0"/>
              <a:chExt cx="609600" cy="609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1723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1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6654800" y="2336800"/>
              <a:ext cx="609600" cy="609600"/>
              <a:chOff x="0" y="0"/>
              <a:chExt cx="609600" cy="6096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1723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2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5562600" y="3581400"/>
              <a:ext cx="609600" cy="609600"/>
              <a:chOff x="0" y="0"/>
              <a:chExt cx="609600" cy="6096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1723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3</a:t>
                </a:r>
              </a:p>
            </p:txBody>
          </p:sp>
        </p:grpSp>
      </p:grpSp>
      <p:sp>
        <p:nvSpPr>
          <p:cNvPr name="TextBox 31" id="31"/>
          <p:cNvSpPr txBox="true"/>
          <p:nvPr/>
        </p:nvSpPr>
        <p:spPr>
          <a:xfrm rot="0">
            <a:off x="9334500" y="2638425"/>
            <a:ext cx="6667500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40"/>
              </a:lnSpc>
            </a:pPr>
            <a:r>
              <a:rPr lang="en-US" sz="17250">
                <a:solidFill>
                  <a:srgbClr val="20292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29750" y="4924425"/>
            <a:ext cx="6477000" cy="162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68756D"/>
                </a:solidFill>
                <a:latin typeface="Montserrat"/>
                <a:ea typeface="Montserrat"/>
                <a:cs typeface="Montserrat"/>
                <a:sym typeface="Montserrat"/>
              </a:rPr>
              <a:t>Forme um pequeno triângulo com os dedos. Toque apenas as quatro cordas mais agudas e confira cada nota separadamente.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29750" y="7296150"/>
            <a:ext cx="6477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241" b="true">
                <a:solidFill>
                  <a:srgbClr val="B857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APLICAÇÃO  •  Então minh’alma canta a Ti…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6875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Acorde Em  •  Mi menor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C9C2B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9250" y="2381250"/>
            <a:ext cx="6191250" cy="5905500"/>
            <a:chOff x="0" y="0"/>
            <a:chExt cx="8255000" cy="7874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255000" cy="7874000"/>
              <a:chOff x="0" y="0"/>
              <a:chExt cx="8255000" cy="787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255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255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>
              <a:off x="1270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2413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3556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699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5842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6985000" y="889000"/>
              <a:ext cx="0" cy="596900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1270000" y="889000"/>
              <a:ext cx="5715000" cy="0"/>
            </a:xfrm>
            <a:prstGeom prst="line">
              <a:avLst/>
            </a:prstGeom>
            <a:ln cap="flat" w="1016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1270000" y="20828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1270000" y="32766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270000" y="44704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1270000" y="56642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1270000" y="6858000"/>
              <a:ext cx="5715000" cy="0"/>
            </a:xfrm>
            <a:prstGeom prst="line">
              <a:avLst/>
            </a:prstGeom>
            <a:ln cap="flat" w="38100">
              <a:solidFill>
                <a:srgbClr val="202923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2" id="22"/>
            <p:cNvGrpSpPr/>
            <p:nvPr/>
          </p:nvGrpSpPr>
          <p:grpSpPr>
            <a:xfrm rot="0">
              <a:off x="2095500" y="2400300"/>
              <a:ext cx="609600" cy="609600"/>
              <a:chOff x="0" y="0"/>
              <a:chExt cx="609600" cy="609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1723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2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251200" y="2400300"/>
              <a:ext cx="609600" cy="609600"/>
              <a:chOff x="0" y="0"/>
              <a:chExt cx="609600" cy="6096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304800" y="0"/>
                    </a:moveTo>
                    <a:cubicBezTo>
                      <a:pt x="473136" y="0"/>
                      <a:pt x="609600" y="136464"/>
                      <a:pt x="609600" y="304800"/>
                    </a:cubicBezTo>
                    <a:cubicBezTo>
                      <a:pt x="609600" y="473136"/>
                      <a:pt x="473136" y="609600"/>
                      <a:pt x="304800" y="609600"/>
                    </a:cubicBezTo>
                    <a:cubicBezTo>
                      <a:pt x="136464" y="609600"/>
                      <a:pt x="0" y="473136"/>
                      <a:pt x="0" y="304800"/>
                    </a:cubicBezTo>
                    <a:cubicBezTo>
                      <a:pt x="0" y="136464"/>
                      <a:pt x="136464" y="0"/>
                      <a:pt x="3048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17231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3</a:t>
                </a: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9334500" y="2638425"/>
            <a:ext cx="6667500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40"/>
              </a:lnSpc>
            </a:pPr>
            <a:r>
              <a:rPr lang="en-US" sz="17250">
                <a:solidFill>
                  <a:srgbClr val="20292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29750" y="4924425"/>
            <a:ext cx="6477000" cy="162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68756D"/>
                </a:solidFill>
                <a:latin typeface="Montserrat"/>
                <a:ea typeface="Montserrat"/>
                <a:cs typeface="Montserrat"/>
                <a:sym typeface="Montserrat"/>
              </a:rPr>
              <a:t>Use dois dedos lado a lado no segundo traste. É uma forma simples e frequente: relaxe a mão e deixe as seis cordas ressoarem.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29750" y="7296150"/>
            <a:ext cx="6477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241" b="true">
                <a:solidFill>
                  <a:srgbClr val="B857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APLICAÇÃO  •  Transição suave entre G e 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6875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7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Cifras e ritmo básico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52635A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66800" y="2085975"/>
            <a:ext cx="7429500" cy="234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4"/>
              </a:lnSpc>
            </a:pPr>
            <a:r>
              <a:rPr lang="en-US" sz="5850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Leia a cifra.</a:t>
            </a:r>
          </a:p>
          <a:p>
            <a:pPr algn="l">
              <a:lnSpc>
                <a:spcPts val="6084"/>
              </a:lnSpc>
            </a:pPr>
            <a:r>
              <a:rPr lang="en-US" sz="5850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Sinta o pulso.</a:t>
            </a:r>
          </a:p>
          <a:p>
            <a:pPr algn="l">
              <a:lnSpc>
                <a:spcPts val="6084"/>
              </a:lnSpc>
            </a:pPr>
            <a:r>
              <a:rPr lang="en-US" sz="5850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Sirva o canto.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5257800"/>
            <a:ext cx="6953250" cy="14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C8D2CA"/>
                </a:solidFill>
                <a:latin typeface="Montserrat"/>
                <a:ea typeface="Montserrat"/>
                <a:cs typeface="Montserrat"/>
                <a:sym typeface="Montserrat"/>
              </a:rPr>
              <a:t>A cifra indica quando a harmonia muda. O pulso mantém o grupo unido. Comece com uma batida para baixo em cada tempo; depois, acrescente movimento sem perder a regularidade.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15500" y="3333750"/>
            <a:ext cx="1219200" cy="1219200"/>
            <a:chOff x="0" y="0"/>
            <a:chExt cx="1625600" cy="1625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697" y="0"/>
                    <a:pt x="1625600" y="363903"/>
                    <a:pt x="1625600" y="812800"/>
                  </a:cubicBezTo>
                  <a:cubicBezTo>
                    <a:pt x="1625600" y="1261697"/>
                    <a:pt x="1261697" y="1625600"/>
                    <a:pt x="812800" y="1625600"/>
                  </a:cubicBezTo>
                  <a:cubicBezTo>
                    <a:pt x="363903" y="1625600"/>
                    <a:pt x="0" y="1261697"/>
                    <a:pt x="0" y="812800"/>
                  </a:cubicBezTo>
                  <a:cubicBezTo>
                    <a:pt x="0" y="363903"/>
                    <a:pt x="363903" y="0"/>
                    <a:pt x="812800" y="0"/>
                  </a:cubicBezTo>
                  <a:close/>
                </a:path>
              </a:pathLst>
            </a:custGeom>
            <a:solidFill>
              <a:srgbClr val="D59B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625600" cy="1692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09"/>
                </a:lnSpc>
              </a:pPr>
              <a:r>
                <a:rPr lang="en-US" sz="3150" b="true">
                  <a:solidFill>
                    <a:srgbClr val="FFFAF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325100" y="5143500"/>
            <a:ext cx="0" cy="1524000"/>
          </a:xfrm>
          <a:prstGeom prst="line">
            <a:avLst/>
          </a:prstGeom>
          <a:ln cap="rnd" w="76200">
            <a:solidFill>
              <a:srgbClr val="76917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477625" y="3333750"/>
            <a:ext cx="1219200" cy="1219200"/>
            <a:chOff x="0" y="0"/>
            <a:chExt cx="1625600" cy="1625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697" y="0"/>
                    <a:pt x="1625600" y="363903"/>
                    <a:pt x="1625600" y="812800"/>
                  </a:cubicBezTo>
                  <a:cubicBezTo>
                    <a:pt x="1625600" y="1261697"/>
                    <a:pt x="1261697" y="1625600"/>
                    <a:pt x="812800" y="1625600"/>
                  </a:cubicBezTo>
                  <a:cubicBezTo>
                    <a:pt x="363903" y="1625600"/>
                    <a:pt x="0" y="1261697"/>
                    <a:pt x="0" y="812800"/>
                  </a:cubicBezTo>
                  <a:cubicBezTo>
                    <a:pt x="0" y="363903"/>
                    <a:pt x="363903" y="0"/>
                    <a:pt x="812800" y="0"/>
                  </a:cubicBezTo>
                  <a:close/>
                </a:path>
              </a:pathLst>
            </a:custGeom>
            <a:solidFill>
              <a:srgbClr val="3146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625600" cy="1692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09"/>
                </a:lnSpc>
              </a:pPr>
              <a:r>
                <a:rPr lang="en-US" sz="3150" b="true">
                  <a:solidFill>
                    <a:srgbClr val="FFFAF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2087225" y="5143500"/>
            <a:ext cx="0" cy="1524000"/>
          </a:xfrm>
          <a:prstGeom prst="line">
            <a:avLst/>
          </a:prstGeom>
          <a:ln cap="rnd" w="76200">
            <a:solidFill>
              <a:srgbClr val="76917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3239750" y="3333750"/>
            <a:ext cx="1219200" cy="1219200"/>
            <a:chOff x="0" y="0"/>
            <a:chExt cx="1625600" cy="1625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697" y="0"/>
                    <a:pt x="1625600" y="363903"/>
                    <a:pt x="1625600" y="812800"/>
                  </a:cubicBezTo>
                  <a:cubicBezTo>
                    <a:pt x="1625600" y="1261697"/>
                    <a:pt x="1261697" y="1625600"/>
                    <a:pt x="812800" y="1625600"/>
                  </a:cubicBezTo>
                  <a:cubicBezTo>
                    <a:pt x="363903" y="1625600"/>
                    <a:pt x="0" y="1261697"/>
                    <a:pt x="0" y="812800"/>
                  </a:cubicBezTo>
                  <a:cubicBezTo>
                    <a:pt x="0" y="363903"/>
                    <a:pt x="363903" y="0"/>
                    <a:pt x="812800" y="0"/>
                  </a:cubicBezTo>
                  <a:close/>
                </a:path>
              </a:pathLst>
            </a:custGeom>
            <a:solidFill>
              <a:srgbClr val="3146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625600" cy="1692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09"/>
                </a:lnSpc>
              </a:pPr>
              <a:r>
                <a:rPr lang="en-US" sz="3150" b="true">
                  <a:solidFill>
                    <a:srgbClr val="FFFAF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3849350" y="5143500"/>
            <a:ext cx="0" cy="1524000"/>
          </a:xfrm>
          <a:prstGeom prst="line">
            <a:avLst/>
          </a:prstGeom>
          <a:ln cap="rnd" w="76200">
            <a:solidFill>
              <a:srgbClr val="76917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5001875" y="3333750"/>
            <a:ext cx="1219200" cy="1219200"/>
            <a:chOff x="0" y="0"/>
            <a:chExt cx="1625600" cy="1625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697" y="0"/>
                    <a:pt x="1625600" y="363903"/>
                    <a:pt x="1625600" y="812800"/>
                  </a:cubicBezTo>
                  <a:cubicBezTo>
                    <a:pt x="1625600" y="1261697"/>
                    <a:pt x="1261697" y="1625600"/>
                    <a:pt x="812800" y="1625600"/>
                  </a:cubicBezTo>
                  <a:cubicBezTo>
                    <a:pt x="363903" y="1625600"/>
                    <a:pt x="0" y="1261697"/>
                    <a:pt x="0" y="812800"/>
                  </a:cubicBezTo>
                  <a:cubicBezTo>
                    <a:pt x="0" y="363903"/>
                    <a:pt x="363903" y="0"/>
                    <a:pt x="812800" y="0"/>
                  </a:cubicBezTo>
                  <a:close/>
                </a:path>
              </a:pathLst>
            </a:custGeom>
            <a:solidFill>
              <a:srgbClr val="3146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625600" cy="1692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09"/>
                </a:lnSpc>
              </a:pPr>
              <a:r>
                <a:rPr lang="en-US" sz="3150" b="true">
                  <a:solidFill>
                    <a:srgbClr val="FFFAF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5611475" y="5143500"/>
            <a:ext cx="0" cy="1524000"/>
          </a:xfrm>
          <a:prstGeom prst="line">
            <a:avLst/>
          </a:prstGeom>
          <a:ln cap="rnd" w="76200">
            <a:solidFill>
              <a:srgbClr val="7691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9667875" y="6886575"/>
            <a:ext cx="6667500" cy="58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↓       ↓       ↓       ↓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96500" y="7915275"/>
            <a:ext cx="5905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241" b="true">
                <a:solidFill>
                  <a:srgbClr val="FFFA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BATIDA SIMPLES  •  4 TEMPOS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AEBB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Mudança de acordes e aplicação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C9C2B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9250" y="2857500"/>
            <a:ext cx="2190750" cy="2190750"/>
            <a:chOff x="0" y="0"/>
            <a:chExt cx="2921000" cy="292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1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2921000">
                  <a:moveTo>
                    <a:pt x="1460500" y="0"/>
                  </a:moveTo>
                  <a:cubicBezTo>
                    <a:pt x="2267112" y="0"/>
                    <a:pt x="2921000" y="653888"/>
                    <a:pt x="2921000" y="1460500"/>
                  </a:cubicBezTo>
                  <a:cubicBezTo>
                    <a:pt x="2921000" y="2267112"/>
                    <a:pt x="2267112" y="2921000"/>
                    <a:pt x="1460500" y="2921000"/>
                  </a:cubicBezTo>
                  <a:cubicBezTo>
                    <a:pt x="653888" y="2921000"/>
                    <a:pt x="0" y="2267112"/>
                    <a:pt x="0" y="1460500"/>
                  </a:cubicBezTo>
                  <a:cubicBezTo>
                    <a:pt x="0" y="653888"/>
                    <a:pt x="653888" y="0"/>
                    <a:pt x="1460500" y="0"/>
                  </a:cubicBezTo>
                  <a:close/>
                </a:path>
              </a:pathLst>
            </a:custGeom>
            <a:solidFill>
              <a:srgbClr val="D59B3D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921000" cy="304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610"/>
                </a:lnSpc>
              </a:pPr>
              <a:r>
                <a:rPr lang="en-US" sz="6150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G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4000500" y="3952875"/>
            <a:ext cx="1476375" cy="0"/>
          </a:xfrm>
          <a:prstGeom prst="line">
            <a:avLst/>
          </a:prstGeom>
          <a:ln cap="rnd" w="47625">
            <a:solidFill>
              <a:srgbClr val="20292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5715000" y="2857500"/>
            <a:ext cx="2190750" cy="2190750"/>
            <a:chOff x="0" y="0"/>
            <a:chExt cx="292100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1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2921000">
                  <a:moveTo>
                    <a:pt x="1460500" y="0"/>
                  </a:moveTo>
                  <a:cubicBezTo>
                    <a:pt x="2267112" y="0"/>
                    <a:pt x="2921000" y="653888"/>
                    <a:pt x="2921000" y="1460500"/>
                  </a:cubicBezTo>
                  <a:cubicBezTo>
                    <a:pt x="2921000" y="2267112"/>
                    <a:pt x="2267112" y="2921000"/>
                    <a:pt x="1460500" y="2921000"/>
                  </a:cubicBezTo>
                  <a:cubicBezTo>
                    <a:pt x="653888" y="2921000"/>
                    <a:pt x="0" y="2267112"/>
                    <a:pt x="0" y="1460500"/>
                  </a:cubicBezTo>
                  <a:cubicBezTo>
                    <a:pt x="0" y="653888"/>
                    <a:pt x="653888" y="0"/>
                    <a:pt x="1460500" y="0"/>
                  </a:cubicBezTo>
                  <a:close/>
                </a:path>
              </a:pathLst>
            </a:custGeom>
            <a:solidFill>
              <a:srgbClr val="76917E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2921000" cy="304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610"/>
                </a:lnSpc>
              </a:pPr>
              <a:r>
                <a:rPr lang="en-US" sz="6150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C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096250" y="3952875"/>
            <a:ext cx="1476375" cy="0"/>
          </a:xfrm>
          <a:prstGeom prst="line">
            <a:avLst/>
          </a:prstGeom>
          <a:ln cap="rnd" w="47625">
            <a:solidFill>
              <a:srgbClr val="20292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9810750" y="2857500"/>
            <a:ext cx="2190750" cy="2190750"/>
            <a:chOff x="0" y="0"/>
            <a:chExt cx="292100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1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2921000">
                  <a:moveTo>
                    <a:pt x="1460500" y="0"/>
                  </a:moveTo>
                  <a:cubicBezTo>
                    <a:pt x="2267112" y="0"/>
                    <a:pt x="2921000" y="653888"/>
                    <a:pt x="2921000" y="1460500"/>
                  </a:cubicBezTo>
                  <a:cubicBezTo>
                    <a:pt x="2921000" y="2267112"/>
                    <a:pt x="2267112" y="2921000"/>
                    <a:pt x="1460500" y="2921000"/>
                  </a:cubicBezTo>
                  <a:cubicBezTo>
                    <a:pt x="653888" y="2921000"/>
                    <a:pt x="0" y="2267112"/>
                    <a:pt x="0" y="1460500"/>
                  </a:cubicBezTo>
                  <a:cubicBezTo>
                    <a:pt x="0" y="653888"/>
                    <a:pt x="653888" y="0"/>
                    <a:pt x="1460500" y="0"/>
                  </a:cubicBezTo>
                  <a:close/>
                </a:path>
              </a:pathLst>
            </a:custGeom>
            <a:solidFill>
              <a:srgbClr val="D59B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2921000" cy="304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610"/>
                </a:lnSpc>
              </a:pPr>
              <a:r>
                <a:rPr lang="en-US" sz="6150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D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2192000" y="3952875"/>
            <a:ext cx="1476375" cy="0"/>
          </a:xfrm>
          <a:prstGeom prst="line">
            <a:avLst/>
          </a:prstGeom>
          <a:ln cap="rnd" w="47625">
            <a:solidFill>
              <a:srgbClr val="20292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906500" y="2857500"/>
            <a:ext cx="2190750" cy="2190750"/>
            <a:chOff x="0" y="0"/>
            <a:chExt cx="2921000" cy="292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21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2921000">
                  <a:moveTo>
                    <a:pt x="1460500" y="0"/>
                  </a:moveTo>
                  <a:cubicBezTo>
                    <a:pt x="2267112" y="0"/>
                    <a:pt x="2921000" y="653888"/>
                    <a:pt x="2921000" y="1460500"/>
                  </a:cubicBezTo>
                  <a:cubicBezTo>
                    <a:pt x="2921000" y="2267112"/>
                    <a:pt x="2267112" y="2921000"/>
                    <a:pt x="1460500" y="2921000"/>
                  </a:cubicBezTo>
                  <a:cubicBezTo>
                    <a:pt x="653888" y="2921000"/>
                    <a:pt x="0" y="2267112"/>
                    <a:pt x="0" y="1460500"/>
                  </a:cubicBezTo>
                  <a:cubicBezTo>
                    <a:pt x="0" y="653888"/>
                    <a:pt x="653888" y="0"/>
                    <a:pt x="1460500" y="0"/>
                  </a:cubicBezTo>
                  <a:close/>
                </a:path>
              </a:pathLst>
            </a:custGeom>
            <a:solidFill>
              <a:srgbClr val="76917E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2921000" cy="304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610"/>
                </a:lnSpc>
              </a:pPr>
              <a:r>
                <a:rPr lang="en-US" sz="6150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Em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14500" y="6229350"/>
            <a:ext cx="4095750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700">
                <a:solidFill>
                  <a:srgbClr val="20292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Antecipe a forma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4500" y="6734175"/>
            <a:ext cx="409575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8756D"/>
                </a:solidFill>
                <a:latin typeface="Montserrat"/>
                <a:ea typeface="Montserrat"/>
                <a:cs typeface="Montserrat"/>
                <a:sym typeface="Montserrat"/>
              </a:rPr>
              <a:t>Mova primeiro o dedo-guia e prepare o acorde antes da troca.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48500" y="6229350"/>
            <a:ext cx="4095750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700">
                <a:solidFill>
                  <a:srgbClr val="20292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Não pare o pulso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48500" y="6734175"/>
            <a:ext cx="4095750" cy="93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8756D"/>
                </a:solidFill>
                <a:latin typeface="Montserrat"/>
                <a:ea typeface="Montserrat"/>
                <a:cs typeface="Montserrat"/>
                <a:sym typeface="Montserrat"/>
              </a:rPr>
              <a:t>Diminua a velocidade até conseguir trocar sem interromper.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82500" y="6229350"/>
            <a:ext cx="4095750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700">
                <a:solidFill>
                  <a:srgbClr val="20292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Repita em ciclos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82500" y="6734175"/>
            <a:ext cx="409575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8756D"/>
                </a:solidFill>
                <a:latin typeface="Montserrat"/>
                <a:ea typeface="Montserrat"/>
                <a:cs typeface="Montserrat"/>
                <a:sym typeface="Montserrat"/>
              </a:rPr>
              <a:t>Pratique dois acordes por vez; depois conecte a sequência.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6875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86750" y="0"/>
            <a:ext cx="10001250" cy="10287000"/>
          </a:xfrm>
          <a:custGeom>
            <a:avLst/>
            <a:gdLst/>
            <a:ahLst/>
            <a:cxnLst/>
            <a:rect r="r" b="b" t="t" l="l"/>
            <a:pathLst>
              <a:path h="10287000" w="10001250">
                <a:moveTo>
                  <a:pt x="0" y="0"/>
                </a:moveTo>
                <a:lnTo>
                  <a:pt x="10001250" y="0"/>
                </a:lnTo>
                <a:lnTo>
                  <a:pt x="10001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" t="0" r="-1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0" y="0"/>
            <a:ext cx="3429000" cy="10287000"/>
            <a:chOff x="0" y="0"/>
            <a:chExt cx="457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7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231F">
                <a:alpha val="7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7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Aplicação em hinos tradicionais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52635A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66800" y="2276475"/>
            <a:ext cx="7239000" cy="234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4"/>
              </a:lnSpc>
            </a:pPr>
            <a:r>
              <a:rPr lang="en-US" sz="5850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Três canções.</a:t>
            </a:r>
          </a:p>
          <a:p>
            <a:pPr algn="l">
              <a:lnSpc>
                <a:spcPts val="6084"/>
              </a:lnSpc>
            </a:pPr>
            <a:r>
              <a:rPr lang="en-US" sz="5850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Quatro acordes.</a:t>
            </a:r>
          </a:p>
          <a:p>
            <a:pPr algn="l">
              <a:lnSpc>
                <a:spcPts val="6084"/>
              </a:lnSpc>
            </a:pPr>
            <a:r>
              <a:rPr lang="en-US" sz="5850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Um só canto.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5343525"/>
            <a:ext cx="6667500" cy="12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550">
                <a:solidFill>
                  <a:srgbClr val="DBE3DC"/>
                </a:solidFill>
                <a:latin typeface="Montserrat"/>
                <a:ea typeface="Montserrat"/>
                <a:cs typeface="Montserrat"/>
                <a:sym typeface="Montserrat"/>
              </a:rPr>
              <a:t>01  Grandioso és Tu</a:t>
            </a:r>
          </a:p>
          <a:p>
            <a:pPr algn="l">
              <a:lnSpc>
                <a:spcPts val="3442"/>
              </a:lnSpc>
            </a:pPr>
            <a:r>
              <a:rPr lang="en-US" sz="2550">
                <a:solidFill>
                  <a:srgbClr val="DBE3DC"/>
                </a:solidFill>
                <a:latin typeface="Montserrat"/>
                <a:ea typeface="Montserrat"/>
                <a:cs typeface="Montserrat"/>
                <a:sym typeface="Montserrat"/>
              </a:rPr>
              <a:t>02  Santo Espírito</a:t>
            </a:r>
          </a:p>
          <a:p>
            <a:pPr algn="l">
              <a:lnSpc>
                <a:spcPts val="3442"/>
              </a:lnSpc>
            </a:pPr>
            <a:r>
              <a:rPr lang="en-US" sz="2550">
                <a:solidFill>
                  <a:srgbClr val="DBE3DC"/>
                </a:solidFill>
                <a:latin typeface="Montserrat"/>
                <a:ea typeface="Montserrat"/>
                <a:cs typeface="Montserrat"/>
                <a:sym typeface="Montserrat"/>
              </a:rPr>
              <a:t>03  Vem, Espírito Santo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" y="8058150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231" b="true">
                <a:solidFill>
                  <a:srgbClr val="D59B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Comece pelo refrão e use andamento lento.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AEBB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Cronograma da aula  •  60 minutos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C9C2B4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6" id="6"/>
          <p:cNvSpPr/>
          <p:nvPr/>
        </p:nvSpPr>
        <p:spPr>
          <a:xfrm>
            <a:off x="1809750" y="4619625"/>
            <a:ext cx="14668500" cy="0"/>
          </a:xfrm>
          <a:prstGeom prst="line">
            <a:avLst/>
          </a:prstGeom>
          <a:ln cap="rnd" w="76200">
            <a:solidFill>
              <a:srgbClr val="C9C2B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190625" y="4000500"/>
            <a:ext cx="2095500" cy="2691289"/>
            <a:chOff x="0" y="0"/>
            <a:chExt cx="2794000" cy="358838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571500" y="0"/>
              <a:ext cx="1651000" cy="1651000"/>
              <a:chOff x="0" y="0"/>
              <a:chExt cx="1651000" cy="1651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825500" y="0"/>
                    </a:moveTo>
                    <a:cubicBezTo>
                      <a:pt x="1281411" y="0"/>
                      <a:pt x="1651000" y="369589"/>
                      <a:pt x="1651000" y="825500"/>
                    </a:cubicBezTo>
                    <a:cubicBezTo>
                      <a:pt x="1651000" y="1281411"/>
                      <a:pt x="1281411" y="1651000"/>
                      <a:pt x="825500" y="1651000"/>
                    </a:cubicBezTo>
                    <a:cubicBezTo>
                      <a:pt x="369589" y="1651000"/>
                      <a:pt x="0" y="1281411"/>
                      <a:pt x="0" y="825500"/>
                    </a:cubicBezTo>
                    <a:cubicBezTo>
                      <a:pt x="0" y="369589"/>
                      <a:pt x="369589" y="0"/>
                      <a:pt x="825500" y="0"/>
                    </a:cubicBezTo>
                    <a:close/>
                  </a:path>
                </a:pathLst>
              </a:custGeom>
              <a:solidFill>
                <a:srgbClr val="20292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65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69"/>
                  </a:lnSpc>
                </a:pPr>
                <a:r>
                  <a:rPr lang="en-US" sz="2550" b="true">
                    <a:solidFill>
                      <a:srgbClr val="FFFAF0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05</a:t>
                </a: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2451100"/>
              <a:ext cx="2794000" cy="446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6"/>
                </a:lnSpc>
              </a:pPr>
              <a:r>
                <a:rPr lang="en-US" sz="24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Boas-vindas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209925"/>
              <a:ext cx="27940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72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Propósito e escuta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57750" y="4000500"/>
            <a:ext cx="2095500" cy="2691289"/>
            <a:chOff x="0" y="0"/>
            <a:chExt cx="2794000" cy="358838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571500" y="0"/>
              <a:ext cx="1651000" cy="1651000"/>
              <a:chOff x="0" y="0"/>
              <a:chExt cx="1651000" cy="1651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825500" y="0"/>
                    </a:moveTo>
                    <a:cubicBezTo>
                      <a:pt x="1281411" y="0"/>
                      <a:pt x="1651000" y="369589"/>
                      <a:pt x="1651000" y="825500"/>
                    </a:cubicBezTo>
                    <a:cubicBezTo>
                      <a:pt x="1651000" y="1281411"/>
                      <a:pt x="1281411" y="1651000"/>
                      <a:pt x="825500" y="1651000"/>
                    </a:cubicBezTo>
                    <a:cubicBezTo>
                      <a:pt x="369589" y="1651000"/>
                      <a:pt x="0" y="1281411"/>
                      <a:pt x="0" y="825500"/>
                    </a:cubicBezTo>
                    <a:cubicBezTo>
                      <a:pt x="0" y="369589"/>
                      <a:pt x="369589" y="0"/>
                      <a:pt x="825500" y="0"/>
                    </a:cubicBezTo>
                    <a:close/>
                  </a:path>
                </a:pathLst>
              </a:custGeom>
              <a:solidFill>
                <a:srgbClr val="20292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65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69"/>
                  </a:lnSpc>
                </a:pPr>
                <a:r>
                  <a:rPr lang="en-US" sz="2550" b="true">
                    <a:solidFill>
                      <a:srgbClr val="FFFAF0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10</a:t>
                </a: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2451100"/>
              <a:ext cx="2794000" cy="446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6"/>
                </a:lnSpc>
              </a:pPr>
              <a:r>
                <a:rPr lang="en-US" sz="24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O violão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209925"/>
              <a:ext cx="27940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72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Partes e postura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24875" y="4000500"/>
            <a:ext cx="2095500" cy="2691289"/>
            <a:chOff x="0" y="0"/>
            <a:chExt cx="2794000" cy="3588385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571500" y="0"/>
              <a:ext cx="1651000" cy="1651000"/>
              <a:chOff x="0" y="0"/>
              <a:chExt cx="1651000" cy="1651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825500" y="0"/>
                    </a:moveTo>
                    <a:cubicBezTo>
                      <a:pt x="1281411" y="0"/>
                      <a:pt x="1651000" y="369589"/>
                      <a:pt x="1651000" y="825500"/>
                    </a:cubicBezTo>
                    <a:cubicBezTo>
                      <a:pt x="1651000" y="1281411"/>
                      <a:pt x="1281411" y="1651000"/>
                      <a:pt x="825500" y="1651000"/>
                    </a:cubicBezTo>
                    <a:cubicBezTo>
                      <a:pt x="369589" y="1651000"/>
                      <a:pt x="0" y="1281411"/>
                      <a:pt x="0" y="825500"/>
                    </a:cubicBezTo>
                    <a:cubicBezTo>
                      <a:pt x="0" y="369589"/>
                      <a:pt x="369589" y="0"/>
                      <a:pt x="825500" y="0"/>
                    </a:cubicBezTo>
                    <a:close/>
                  </a:path>
                </a:pathLst>
              </a:custGeom>
              <a:solidFill>
                <a:srgbClr val="D59B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65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69"/>
                  </a:lnSpc>
                </a:pPr>
                <a:r>
                  <a:rPr lang="en-US" sz="2550" b="true">
                    <a:solidFill>
                      <a:srgbClr val="FFFAF0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20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2451100"/>
              <a:ext cx="2794000" cy="446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6"/>
                </a:lnSpc>
              </a:pPr>
              <a:r>
                <a:rPr lang="en-US" sz="24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Acordes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3209925"/>
              <a:ext cx="27940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72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G, C, D e Em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92000" y="4000500"/>
            <a:ext cx="2095500" cy="2691289"/>
            <a:chOff x="0" y="0"/>
            <a:chExt cx="2794000" cy="3588385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571500" y="0"/>
              <a:ext cx="1651000" cy="1651000"/>
              <a:chOff x="0" y="0"/>
              <a:chExt cx="1651000" cy="1651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825500" y="0"/>
                    </a:moveTo>
                    <a:cubicBezTo>
                      <a:pt x="1281411" y="0"/>
                      <a:pt x="1651000" y="369589"/>
                      <a:pt x="1651000" y="825500"/>
                    </a:cubicBezTo>
                    <a:cubicBezTo>
                      <a:pt x="1651000" y="1281411"/>
                      <a:pt x="1281411" y="1651000"/>
                      <a:pt x="825500" y="1651000"/>
                    </a:cubicBezTo>
                    <a:cubicBezTo>
                      <a:pt x="369589" y="1651000"/>
                      <a:pt x="0" y="1281411"/>
                      <a:pt x="0" y="825500"/>
                    </a:cubicBezTo>
                    <a:cubicBezTo>
                      <a:pt x="0" y="369589"/>
                      <a:pt x="369589" y="0"/>
                      <a:pt x="825500" y="0"/>
                    </a:cubicBezTo>
                    <a:close/>
                  </a:path>
                </a:pathLst>
              </a:custGeom>
              <a:solidFill>
                <a:srgbClr val="20292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65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69"/>
                  </a:lnSpc>
                </a:pPr>
                <a:r>
                  <a:rPr lang="en-US" sz="2550" b="true">
                    <a:solidFill>
                      <a:srgbClr val="FFFAF0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15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2451100"/>
              <a:ext cx="2794000" cy="446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6"/>
                </a:lnSpc>
              </a:pPr>
              <a:r>
                <a:rPr lang="en-US" sz="24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Prática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3209925"/>
              <a:ext cx="27940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72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Pulso e mudanças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859125" y="4000500"/>
            <a:ext cx="2095500" cy="2986564"/>
            <a:chOff x="0" y="0"/>
            <a:chExt cx="2794000" cy="3982085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571500" y="0"/>
              <a:ext cx="1651000" cy="1651000"/>
              <a:chOff x="0" y="0"/>
              <a:chExt cx="1651000" cy="1651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825500" y="0"/>
                    </a:moveTo>
                    <a:cubicBezTo>
                      <a:pt x="1281411" y="0"/>
                      <a:pt x="1651000" y="369589"/>
                      <a:pt x="1651000" y="825500"/>
                    </a:cubicBezTo>
                    <a:cubicBezTo>
                      <a:pt x="1651000" y="1281411"/>
                      <a:pt x="1281411" y="1651000"/>
                      <a:pt x="825500" y="1651000"/>
                    </a:cubicBezTo>
                    <a:cubicBezTo>
                      <a:pt x="369589" y="1651000"/>
                      <a:pt x="0" y="1281411"/>
                      <a:pt x="0" y="825500"/>
                    </a:cubicBezTo>
                    <a:cubicBezTo>
                      <a:pt x="0" y="369589"/>
                      <a:pt x="369589" y="0"/>
                      <a:pt x="825500" y="0"/>
                    </a:cubicBezTo>
                    <a:close/>
                  </a:path>
                </a:pathLst>
              </a:custGeom>
              <a:solidFill>
                <a:srgbClr val="20292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65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69"/>
                  </a:lnSpc>
                </a:pPr>
                <a:r>
                  <a:rPr lang="en-US" sz="2550" b="true">
                    <a:solidFill>
                      <a:srgbClr val="FFFAF0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10</a:t>
                </a: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0" y="2451100"/>
              <a:ext cx="2794000" cy="446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6"/>
                </a:lnSpc>
              </a:pPr>
              <a:r>
                <a:rPr lang="en-US" sz="24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Avaliação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3209925"/>
              <a:ext cx="2794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72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Execução e feedback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6875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Avaliação prática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C9C2B4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66800" y="2247900"/>
            <a:ext cx="6191250" cy="176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6600">
                <a:solidFill>
                  <a:srgbClr val="20292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Ouvir, observar,</a:t>
            </a:r>
          </a:p>
          <a:p>
            <a:pPr algn="l">
              <a:lnSpc>
                <a:spcPts val="6864"/>
              </a:lnSpc>
            </a:pPr>
            <a:r>
              <a:rPr lang="en-US" sz="6600">
                <a:solidFill>
                  <a:srgbClr val="202923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encorajar.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4924425"/>
            <a:ext cx="5810250" cy="147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68756D"/>
                </a:solidFill>
                <a:latin typeface="Montserrat"/>
                <a:ea typeface="Montserrat"/>
                <a:cs typeface="Montserrat"/>
                <a:sym typeface="Montserrat"/>
              </a:rPr>
              <a:t>A avaliação acontece durante a prática e orienta o próximo passo — sem transformar o aprendizado em performance.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905750" y="2095500"/>
            <a:ext cx="4191000" cy="2857500"/>
            <a:chOff x="0" y="0"/>
            <a:chExt cx="5588000" cy="3810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588000" cy="3810000"/>
              <a:chOff x="0" y="0"/>
              <a:chExt cx="5588000" cy="381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88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5588000">
                    <a:moveTo>
                      <a:pt x="0" y="0"/>
                    </a:moveTo>
                    <a:lnTo>
                      <a:pt x="5588000" y="0"/>
                    </a:lnTo>
                    <a:lnTo>
                      <a:pt x="5588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588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31800" y="1079500"/>
              <a:ext cx="4724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Acordes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774825"/>
              <a:ext cx="47244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Reconhece e executa as formas com clareza.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77750" y="2095500"/>
            <a:ext cx="4191000" cy="2857500"/>
            <a:chOff x="0" y="0"/>
            <a:chExt cx="5588000" cy="3810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588000" cy="3810000"/>
              <a:chOff x="0" y="0"/>
              <a:chExt cx="5588000" cy="381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588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5588000">
                    <a:moveTo>
                      <a:pt x="0" y="0"/>
                    </a:moveTo>
                    <a:lnTo>
                      <a:pt x="5588000" y="0"/>
                    </a:lnTo>
                    <a:lnTo>
                      <a:pt x="5588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5588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079500"/>
              <a:ext cx="4724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Ritmo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31800" y="1774825"/>
              <a:ext cx="47244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Mantém o pulso sem acelerar.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905750" y="5429250"/>
            <a:ext cx="4191000" cy="2857500"/>
            <a:chOff x="0" y="0"/>
            <a:chExt cx="5588000" cy="3810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588000" cy="3810000"/>
              <a:chOff x="0" y="0"/>
              <a:chExt cx="5588000" cy="381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588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5588000">
                    <a:moveTo>
                      <a:pt x="0" y="0"/>
                    </a:moveTo>
                    <a:lnTo>
                      <a:pt x="5588000" y="0"/>
                    </a:lnTo>
                    <a:lnTo>
                      <a:pt x="5588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5588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31800" y="1079500"/>
              <a:ext cx="4724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Transições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31800" y="1774825"/>
              <a:ext cx="47244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Muda sem interromper o fluxo.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77750" y="5429250"/>
            <a:ext cx="4191000" cy="2857500"/>
            <a:chOff x="0" y="0"/>
            <a:chExt cx="5588000" cy="38100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588000" cy="3810000"/>
              <a:chOff x="0" y="0"/>
              <a:chExt cx="5588000" cy="3810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588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5588000">
                    <a:moveTo>
                      <a:pt x="0" y="0"/>
                    </a:moveTo>
                    <a:lnTo>
                      <a:pt x="5588000" y="0"/>
                    </a:lnTo>
                    <a:lnTo>
                      <a:pt x="5588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5588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431800" y="1079500"/>
              <a:ext cx="4724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Atitude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431800" y="1774825"/>
              <a:ext cx="47244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Participa, escuta e persevera.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6875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7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Um caminho para cada aluno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52635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" y="2238375"/>
            <a:ext cx="7524750" cy="5619750"/>
            <a:chOff x="0" y="0"/>
            <a:chExt cx="10033000" cy="7493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033000" cy="7493000"/>
              <a:chOff x="0" y="0"/>
              <a:chExt cx="10033000" cy="7493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0330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2233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0330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31800" y="1079500"/>
              <a:ext cx="9169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Para quem está começando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31800" y="1774825"/>
              <a:ext cx="9169400" cy="1657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8D2C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Dois acordes por vez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8D2C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Ritmo mais lento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8D2C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Formas simplificadas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8D2C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Repetição curta e frequente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20250" y="2238375"/>
            <a:ext cx="7524750" cy="5619750"/>
            <a:chOff x="0" y="0"/>
            <a:chExt cx="10033000" cy="7493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033000" cy="7493000"/>
              <a:chOff x="0" y="0"/>
              <a:chExt cx="10033000" cy="7493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0330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2233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0330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31800" y="1079500"/>
              <a:ext cx="9169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Para quem já tem experiência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31800" y="1774825"/>
              <a:ext cx="9169400" cy="1657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8D2C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Variações de batida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8D2C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Novos ritmos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8D2C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Inversões e baixos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8D2C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Apoio aos colegas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762250" y="8343900"/>
            <a:ext cx="12763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294">
                <a:solidFill>
                  <a:srgbClr val="D59B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 ambos: apoio individual, exercícios extras e metas alcançáveis.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AEBB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33400"/>
            <a:ext cx="16154400" cy="733425"/>
            <a:chOff x="0" y="0"/>
            <a:chExt cx="21539200" cy="977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3500"/>
              <a:ext cx="889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43000" y="57150"/>
              <a:ext cx="18415000" cy="662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360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Exercícios, tarefa e recursos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965200"/>
              <a:ext cx="21539200" cy="0"/>
            </a:xfrm>
            <a:prstGeom prst="line">
              <a:avLst/>
            </a:prstGeom>
            <a:ln cap="flat" w="25400">
              <a:solidFill>
                <a:srgbClr val="C9C2B4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" y="1952625"/>
            <a:ext cx="7620000" cy="2857500"/>
            <a:chOff x="0" y="0"/>
            <a:chExt cx="10160000" cy="3810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160000" cy="3810000"/>
              <a:chOff x="0" y="0"/>
              <a:chExt cx="10160000" cy="381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160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160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31800" y="1079500"/>
              <a:ext cx="9296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Trocas diárias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31800" y="1774825"/>
              <a:ext cx="92964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 ↔ C, C ↔ D e G ↔ Em por 3 minutos.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39250" y="1952625"/>
            <a:ext cx="7620000" cy="2857500"/>
            <a:chOff x="0" y="0"/>
            <a:chExt cx="10160000" cy="3810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160000" cy="3810000"/>
              <a:chOff x="0" y="0"/>
              <a:chExt cx="10160000" cy="381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160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160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31800" y="1079500"/>
              <a:ext cx="9296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Pulso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31800" y="1774825"/>
              <a:ext cx="92964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Praticar com metrônomo em andamento confortável.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3000" y="5286375"/>
            <a:ext cx="7620000" cy="2857500"/>
            <a:chOff x="0" y="0"/>
            <a:chExt cx="10160000" cy="381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160000" cy="3810000"/>
              <a:chOff x="0" y="0"/>
              <a:chExt cx="10160000" cy="381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160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0160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31800" y="1079500"/>
              <a:ext cx="9296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Repertório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1774825"/>
              <a:ext cx="92964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Consultar vídeos e cifras confiáveis para revisão.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39250" y="5286375"/>
            <a:ext cx="7620000" cy="2857500"/>
            <a:chOff x="0" y="0"/>
            <a:chExt cx="10160000" cy="3810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160000" cy="3810000"/>
              <a:chOff x="0" y="0"/>
              <a:chExt cx="10160000" cy="3810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160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A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160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31800" y="333375"/>
              <a:ext cx="889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D59B3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31800" y="1079500"/>
              <a:ext cx="92964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>
                  <a:solidFill>
                    <a:srgbClr val="20292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Professor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31800" y="1774825"/>
              <a:ext cx="92964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8756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Celebrar pequenos avanços e registrar dificuldades.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619250" y="8724900"/>
            <a:ext cx="15049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252">
                <a:solidFill>
                  <a:srgbClr val="B857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ROTINA SUGERIDA  •  10 MINUTOS POR DIA  •  CONSTÂNCIA ANTES DA VELOCIDADE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6800" y="9686925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6875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DO VIOLÃO  •  MÚSICA CONGREGACIONAL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573500" y="9696450"/>
            <a:ext cx="666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D59B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231F">
                <a:alpha val="6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14750" y="1914525"/>
            <a:ext cx="10858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252">
                <a:solidFill>
                  <a:srgbClr val="D59B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FIM DA AULA  •  INÍCIO DA PRÁTICA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29000" y="2943225"/>
            <a:ext cx="11430000" cy="224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6"/>
              </a:lnSpc>
            </a:pPr>
            <a:r>
              <a:rPr lang="en-US" sz="8400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Obrigado</a:t>
            </a:r>
          </a:p>
          <a:p>
            <a:pPr algn="ctr">
              <a:lnSpc>
                <a:spcPts val="8736"/>
              </a:lnSpc>
            </a:pPr>
            <a:r>
              <a:rPr lang="en-US" sz="8400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pela atenção!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57750" y="6296025"/>
            <a:ext cx="8572500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</a:pPr>
            <a:r>
              <a:rPr lang="en-US" sz="2550">
                <a:solidFill>
                  <a:srgbClr val="DBE3DC"/>
                </a:solidFill>
                <a:latin typeface="Montserrat"/>
                <a:ea typeface="Montserrat"/>
                <a:cs typeface="Montserrat"/>
                <a:sym typeface="Montserrat"/>
              </a:rPr>
              <a:t>Dúvidas? Vamos tocar juntos.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95875" y="8248650"/>
            <a:ext cx="8096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b="true" sz="1575" spc="220">
                <a:solidFill>
                  <a:srgbClr val="FFFA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CONTATO DO(A) INSTRUTOR(A)  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DAHV4W4flYA</dc:identifier>
  <dcterms:modified xsi:type="dcterms:W3CDTF">2011-08-01T06:04:30Z</dcterms:modified>
  <cp:revision>1</cp:revision>
  <dc:title>Fundamentos do Violão</dc:title>
</cp:coreProperties>
</file>